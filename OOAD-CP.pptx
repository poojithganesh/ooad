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78" r:id="rId4"/>
    <p:sldId id="258" r:id="rId5"/>
    <p:sldId id="259" r:id="rId6"/>
    <p:sldId id="260" r:id="rId7"/>
    <p:sldId id="262" r:id="rId8"/>
    <p:sldId id="263" r:id="rId9"/>
    <p:sldId id="265" r:id="rId10"/>
    <p:sldId id="283" r:id="rId11"/>
    <p:sldId id="284" r:id="rId12"/>
    <p:sldId id="279" r:id="rId13"/>
    <p:sldId id="285" r:id="rId14"/>
    <p:sldId id="286" r:id="rId15"/>
    <p:sldId id="287" r:id="rId16"/>
    <p:sldId id="288" r:id="rId17"/>
    <p:sldId id="289" r:id="rId18"/>
    <p:sldId id="292" r:id="rId19"/>
    <p:sldId id="291" r:id="rId20"/>
    <p:sldId id="290" r:id="rId21"/>
    <p:sldId id="271" r:id="rId22"/>
    <p:sldId id="272" r:id="rId23"/>
    <p:sldId id="273" r:id="rId24"/>
    <p:sldId id="274" r:id="rId25"/>
    <p:sldId id="275" r:id="rId26"/>
    <p:sldId id="277" r:id="rId27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8FB"/>
          </a:solidFill>
        </a:fill>
      </a:tcStyle>
    </a:wholeTbl>
    <a:band2H>
      <a:tcTxStyle/>
      <a:tcStyle>
        <a:tcBdr/>
        <a:fill>
          <a:solidFill>
            <a:srgbClr val="E8ED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/>
      <a:tcStyle>
        <a:tcBdr/>
        <a:fill>
          <a:solidFill>
            <a:srgbClr val="EBEEE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/>
      <a:tcStyle>
        <a:tcBdr/>
        <a:fill>
          <a:solidFill>
            <a:srgbClr val="FCFF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–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–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–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–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46" autoAdjust="0"/>
    <p:restoredTop sz="92483"/>
  </p:normalViewPr>
  <p:slideViewPr>
    <p:cSldViewPr snapToGrid="0">
      <p:cViewPr varScale="1">
        <p:scale>
          <a:sx n="109" d="100"/>
          <a:sy n="109" d="100"/>
        </p:scale>
        <p:origin x="67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ojithganeshmarem05@gmail.com" userId="56efce1329518392" providerId="LiveId" clId="{0083F028-9E15-435B-B303-0C3021A917B4}"/>
    <pc:docChg chg="undo custSel modSld">
      <pc:chgData name="poojithganeshmarem05@gmail.com" userId="56efce1329518392" providerId="LiveId" clId="{0083F028-9E15-435B-B303-0C3021A917B4}" dt="2026-09-04T04:27:15.742" v="4" actId="478"/>
      <pc:docMkLst>
        <pc:docMk/>
      </pc:docMkLst>
      <pc:sldChg chg="delSp mod">
        <pc:chgData name="poojithganeshmarem05@gmail.com" userId="56efce1329518392" providerId="LiveId" clId="{0083F028-9E15-435B-B303-0C3021A917B4}" dt="2026-09-04T04:26:53.179" v="0" actId="478"/>
        <pc:sldMkLst>
          <pc:docMk/>
          <pc:sldMk cId="3333652786" sldId="290"/>
        </pc:sldMkLst>
        <pc:spChg chg="del">
          <ac:chgData name="poojithganeshmarem05@gmail.com" userId="56efce1329518392" providerId="LiveId" clId="{0083F028-9E15-435B-B303-0C3021A917B4}" dt="2026-09-04T04:26:53.179" v="0" actId="478"/>
          <ac:spMkLst>
            <pc:docMk/>
            <pc:sldMk cId="3333652786" sldId="290"/>
            <ac:spMk id="3" creationId="{B166AD48-5719-0EDC-56F0-5D906B60D6AF}"/>
          </ac:spMkLst>
        </pc:spChg>
      </pc:sldChg>
      <pc:sldChg chg="addSp delSp mod">
        <pc:chgData name="poojithganeshmarem05@gmail.com" userId="56efce1329518392" providerId="LiveId" clId="{0083F028-9E15-435B-B303-0C3021A917B4}" dt="2026-09-04T04:27:11.041" v="3" actId="478"/>
        <pc:sldMkLst>
          <pc:docMk/>
          <pc:sldMk cId="3136011714" sldId="291"/>
        </pc:sldMkLst>
        <pc:spChg chg="del">
          <ac:chgData name="poojithganeshmarem05@gmail.com" userId="56efce1329518392" providerId="LiveId" clId="{0083F028-9E15-435B-B303-0C3021A917B4}" dt="2026-09-04T04:27:11.041" v="3" actId="478"/>
          <ac:spMkLst>
            <pc:docMk/>
            <pc:sldMk cId="3136011714" sldId="291"/>
            <ac:spMk id="3" creationId="{7189F2AB-C3FF-38ED-227F-5A388E328766}"/>
          </ac:spMkLst>
        </pc:spChg>
        <pc:picChg chg="add del">
          <ac:chgData name="poojithganeshmarem05@gmail.com" userId="56efce1329518392" providerId="LiveId" clId="{0083F028-9E15-435B-B303-0C3021A917B4}" dt="2026-09-04T04:27:03.884" v="2" actId="478"/>
          <ac:picMkLst>
            <pc:docMk/>
            <pc:sldMk cId="3136011714" sldId="291"/>
            <ac:picMk id="8" creationId="{34521728-50FD-7FE7-D363-0F6EF1A07B33}"/>
          </ac:picMkLst>
        </pc:picChg>
      </pc:sldChg>
      <pc:sldChg chg="delSp mod">
        <pc:chgData name="poojithganeshmarem05@gmail.com" userId="56efce1329518392" providerId="LiveId" clId="{0083F028-9E15-435B-B303-0C3021A917B4}" dt="2026-09-04T04:27:15.742" v="4" actId="478"/>
        <pc:sldMkLst>
          <pc:docMk/>
          <pc:sldMk cId="3844145707" sldId="292"/>
        </pc:sldMkLst>
        <pc:spChg chg="del">
          <ac:chgData name="poojithganeshmarem05@gmail.com" userId="56efce1329518392" providerId="LiveId" clId="{0083F028-9E15-435B-B303-0C3021A917B4}" dt="2026-09-04T04:27:15.742" v="4" actId="478"/>
          <ac:spMkLst>
            <pc:docMk/>
            <pc:sldMk cId="3844145707" sldId="292"/>
            <ac:spMk id="3" creationId="{B6C93000-9041-1636-0BFF-C3BE676E9F8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6" name="Shape 11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0655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latinLnBrk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071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2388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39130-4A7D-F208-F11D-81307F244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009D02-2894-DCB0-628C-8E311353C3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941F66-9EFC-1155-E652-5F871AF1C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6388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4CFE8-7F9A-9AA1-AB86-0F9667E0F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F4C7AA-E45C-B10E-D3A7-A169E6F4E8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60A3F8-025D-1A5C-B105-3B912F76DF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087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311708" y="744574"/>
            <a:ext cx="8520601" cy="2052601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11699" y="2834125"/>
            <a:ext cx="8520602" cy="7926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r>
              <a:t>Title Text</a:t>
            </a:r>
          </a:p>
        </p:txBody>
      </p:sp>
      <p:sp>
        <p:nvSpPr>
          <p:cNvPr id="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11699" y="1152475"/>
            <a:ext cx="3999902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Google Shape;23;p5"/>
          <p:cNvSpPr txBox="1">
            <a:spLocks noGrp="1"/>
          </p:cNvSpPr>
          <p:nvPr>
            <p:ph type="body" sz="half" idx="21"/>
          </p:nvPr>
        </p:nvSpPr>
        <p:spPr>
          <a:xfrm>
            <a:off x="4832399" y="1152475"/>
            <a:ext cx="3999902" cy="3416400"/>
          </a:xfrm>
          <a:prstGeom prst="rect">
            <a:avLst/>
          </a:prstGeom>
        </p:spPr>
        <p:txBody>
          <a:bodyPr/>
          <a:lstStyle/>
          <a:p>
            <a:pPr indent="-317500">
              <a:buSzPts val="1400"/>
              <a:defRPr sz="1400"/>
            </a:pPr>
            <a:endParaRPr/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>
            <a:spLocks noGrp="1"/>
          </p:cNvSpPr>
          <p:nvPr>
            <p:ph type="title"/>
          </p:nvPr>
        </p:nvSpPr>
        <p:spPr>
          <a:xfrm>
            <a:off x="311699" y="555600"/>
            <a:ext cx="2808001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5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11699" y="1389599"/>
            <a:ext cx="2808001" cy="3179401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>
            <a:spLocks noGrp="1"/>
          </p:cNvSpPr>
          <p:nvPr>
            <p:ph type="title"/>
          </p:nvPr>
        </p:nvSpPr>
        <p:spPr>
          <a:xfrm>
            <a:off x="490250" y="450149"/>
            <a:ext cx="6367801" cy="4090801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r>
              <a:t>Title Text</a:t>
            </a:r>
          </a:p>
        </p:txBody>
      </p:sp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4572000" y="-125"/>
            <a:ext cx="4572000" cy="5143501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73" name="Title Text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1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r>
              <a:t>Title Text</a:t>
            </a:r>
          </a:p>
        </p:txBody>
      </p:sp>
      <p:sp>
        <p:nvSpPr>
          <p:cNvPr id="7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Google Shape;39;p9"/>
          <p:cNvSpPr txBox="1">
            <a:spLocks noGrp="1"/>
          </p:cNvSpPr>
          <p:nvPr>
            <p:ph type="body" sz="half" idx="21"/>
          </p:nvPr>
        </p:nvSpPr>
        <p:spPr>
          <a:xfrm>
            <a:off x="4939500" y="724074"/>
            <a:ext cx="3837000" cy="3695102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11699" y="4230575"/>
            <a:ext cx="5998802" cy="605101"/>
          </a:xfrm>
          <a:prstGeom prst="rect">
            <a:avLst/>
          </a:prstGeom>
        </p:spPr>
        <p:txBody>
          <a:bodyPr anchor="ctr"/>
          <a:lstStyle>
            <a:lvl1pPr marL="228600" indent="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>
            <a:spLocks noGrp="1"/>
          </p:cNvSpPr>
          <p:nvPr>
            <p:ph type="title" hasCustomPrompt="1"/>
          </p:nvPr>
        </p:nvSpPr>
        <p:spPr>
          <a:xfrm>
            <a:off x="311699" y="1106125"/>
            <a:ext cx="8520602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t>xx%</a:t>
            </a:r>
          </a:p>
        </p:txBody>
      </p:sp>
      <p:sp>
        <p:nvSpPr>
          <p:cNvPr id="9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11699" y="3152225"/>
            <a:ext cx="8520602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84345" y="4700819"/>
            <a:ext cx="336813" cy="318396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normAutofit/>
          </a:bodyPr>
          <a:lstStyle>
            <a:lvl1pPr algn="r">
              <a:defRPr sz="10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1pPr>
      <a:lvl2pPr marL="1005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2pPr>
      <a:lvl3pPr marL="1462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3pPr>
      <a:lvl4pPr marL="1919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4pPr>
      <a:lvl5pPr marL="23767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5pPr>
      <a:lvl6pPr marL="28339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6pPr>
      <a:lvl7pPr marL="3291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7pPr>
      <a:lvl8pPr marL="3748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8pPr>
      <a:lvl9pPr marL="4205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sz="1800" b="0" i="0" u="none" strike="noStrike" cap="none" spc="0" baseline="0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54;p13"/>
          <p:cNvSpPr txBox="1"/>
          <p:nvPr/>
        </p:nvSpPr>
        <p:spPr>
          <a:xfrm>
            <a:off x="1505100" y="552943"/>
            <a:ext cx="5830120" cy="12512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rmAutofit/>
          </a:bodyPr>
          <a:lstStyle>
            <a:lvl1pPr algn="ctr">
              <a:lnSpc>
                <a:spcPct val="142857"/>
              </a:lnSpc>
              <a:defRPr sz="28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 marL="12700" marR="5080"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CSA1101 – </a:t>
            </a:r>
            <a:r>
              <a:rPr lang="en-US" dirty="0"/>
              <a:t>OBJECT ORIENTED ANALYSIS AND DESIGN</a:t>
            </a:r>
            <a:endParaRPr lang="en-US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Google Shape;55;p13"/>
          <p:cNvSpPr txBox="1"/>
          <p:nvPr/>
        </p:nvSpPr>
        <p:spPr>
          <a:xfrm>
            <a:off x="5665124" y="3723108"/>
            <a:ext cx="3478876" cy="138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normAutofit lnSpcReduction="10000"/>
          </a:bodyPr>
          <a:lstStyle/>
          <a:p>
            <a:pPr algn="ctr" defTabSz="694944">
              <a:lnSpc>
                <a:spcPct val="120000"/>
              </a:lnSpc>
              <a:defRPr sz="15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Presented by</a:t>
            </a:r>
            <a:r>
              <a:rPr lang="en-US" dirty="0"/>
              <a:t>:</a:t>
            </a:r>
          </a:p>
          <a:p>
            <a:pPr algn="ctr" defTabSz="694944">
              <a:lnSpc>
                <a:spcPct val="120000"/>
              </a:lnSpc>
              <a:defRPr sz="15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A.ADARSH – 192365002</a:t>
            </a:r>
          </a:p>
          <a:p>
            <a:pPr algn="ctr" defTabSz="694944">
              <a:lnSpc>
                <a:spcPct val="120000"/>
              </a:lnSpc>
              <a:defRPr sz="15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Teja Srinivas - 192311280</a:t>
            </a:r>
          </a:p>
          <a:p>
            <a:pPr algn="ctr" defTabSz="694944">
              <a:lnSpc>
                <a:spcPct val="120000"/>
              </a:lnSpc>
              <a:defRPr sz="15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M. Poojith Ganesh – 192311290</a:t>
            </a:r>
            <a:br>
              <a:rPr lang="en-US" dirty="0"/>
            </a:br>
            <a:r>
              <a:rPr lang="en-US" dirty="0"/>
              <a:t>K. Krishna Charan - 192311316</a:t>
            </a:r>
          </a:p>
        </p:txBody>
      </p:sp>
      <p:pic>
        <p:nvPicPr>
          <p:cNvPr id="120" name="Google Shape;56;p13" descr="Google Shape;56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5" y="147825"/>
            <a:ext cx="867050" cy="1025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1" name="Google Shape;57;p13" descr="Google Shape;57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7125" y="147825"/>
            <a:ext cx="1161143" cy="1025750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Google Shape;59;p13"/>
          <p:cNvSpPr txBox="1"/>
          <p:nvPr/>
        </p:nvSpPr>
        <p:spPr>
          <a:xfrm>
            <a:off x="182880" y="3898368"/>
            <a:ext cx="3010200" cy="8309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spAutoFit/>
          </a:bodyPr>
          <a:lstStyle/>
          <a:p>
            <a:pPr algn="ctr">
              <a:defRPr sz="21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Supervised by</a:t>
            </a:r>
            <a:br>
              <a:rPr dirty="0"/>
            </a:br>
            <a:r>
              <a:rPr lang="en-US" dirty="0"/>
              <a:t>Madhan</a:t>
            </a:r>
            <a:endParaRPr dirty="0"/>
          </a:p>
        </p:txBody>
      </p:sp>
      <p:sp>
        <p:nvSpPr>
          <p:cNvPr id="123" name="Google Shape;54;p13"/>
          <p:cNvSpPr txBox="1"/>
          <p:nvPr/>
        </p:nvSpPr>
        <p:spPr>
          <a:xfrm>
            <a:off x="107757" y="1810026"/>
            <a:ext cx="9052550" cy="132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rmAutofit lnSpcReduction="10000"/>
          </a:bodyPr>
          <a:lstStyle>
            <a:lvl1pPr algn="ctr">
              <a:lnSpc>
                <a:spcPct val="142857"/>
              </a:lnSpc>
              <a:defRPr sz="3000" b="1">
                <a:gradFill flip="none" rotWithShape="1">
                  <a:gsLst>
                    <a:gs pos="0">
                      <a:srgbClr val="44F6FB"/>
                    </a:gs>
                    <a:gs pos="100000">
                      <a:srgbClr val="FC4EFE"/>
                    </a:gs>
                  </a:gsLst>
                  <a:lin ang="16200000" scaled="0"/>
                </a:gra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>
                <a:solidFill>
                  <a:schemeClr val="tx1"/>
                </a:solidFill>
              </a:rPr>
              <a:t>Smart Water Consumption Monitoring and Leak Detection Management System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65;p14"/>
          <p:cNvSpPr txBox="1">
            <a:spLocks noGrp="1"/>
          </p:cNvSpPr>
          <p:nvPr>
            <p:ph type="title"/>
          </p:nvPr>
        </p:nvSpPr>
        <p:spPr>
          <a:xfrm>
            <a:off x="2899050" y="83700"/>
            <a:ext cx="3345901" cy="905400"/>
          </a:xfrm>
          <a:prstGeom prst="rect">
            <a:avLst/>
          </a:prstGeom>
        </p:spPr>
        <p:txBody>
          <a:bodyPr/>
          <a:lstStyle>
            <a:lvl1pPr algn="ctr">
              <a:defRPr sz="44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ABSTRACT</a:t>
            </a:r>
          </a:p>
        </p:txBody>
      </p:sp>
      <p:pic>
        <p:nvPicPr>
          <p:cNvPr id="129" name="Google Shape;67;p14" descr="Google Shape;67;p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900" y="147825"/>
            <a:ext cx="867050" cy="1025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0" name="Google Shape;68;p14" descr="Google Shape;68;p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8101" y="147825"/>
            <a:ext cx="1161143" cy="102575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116864-EF65-DC60-BF33-E704DBE5A51B}"/>
              </a:ext>
            </a:extLst>
          </p:cNvPr>
          <p:cNvSpPr txBox="1"/>
          <p:nvPr/>
        </p:nvSpPr>
        <p:spPr>
          <a:xfrm>
            <a:off x="191626" y="1573507"/>
            <a:ext cx="8760748" cy="35548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Water Consumption Monitoring and Leak Detection Management 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designed using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Analysis and Design (OOAD) principles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focuses on monitoring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consumption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detecting possible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leakage or abnormal water flow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Use Case, Class, Sequence, Activity, Component, and Deployment diagrams are used to analyze and design the system.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consists of two main modules: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Consumption Monitoring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 Detection, Alert and Management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helps in providing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monitoring, leakage alerts, and efficient water management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presents an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and systematic approach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reduce water wastage and improve water resource management.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8C3A7-4B0F-2FE3-D59E-C4DD936AB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65;p14">
            <a:extLst>
              <a:ext uri="{FF2B5EF4-FFF2-40B4-BE49-F238E27FC236}">
                <a16:creationId xmlns:a16="http://schemas.microsoft.com/office/drawing/2014/main" id="{3026F380-08B1-204A-783C-DC60F07CB8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699" y="83700"/>
            <a:ext cx="8520602" cy="905400"/>
          </a:xfrm>
          <a:prstGeom prst="rect">
            <a:avLst/>
          </a:prstGeom>
        </p:spPr>
        <p:txBody>
          <a:bodyPr/>
          <a:lstStyle>
            <a:lvl1pPr algn="ctr">
              <a:defRPr sz="44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dirty="0"/>
              <a:t>OBJECTIVES</a:t>
            </a:r>
          </a:p>
        </p:txBody>
      </p:sp>
      <p:sp>
        <p:nvSpPr>
          <p:cNvPr id="128" name="Google Shape;66;p14">
            <a:extLst>
              <a:ext uri="{FF2B5EF4-FFF2-40B4-BE49-F238E27FC236}">
                <a16:creationId xmlns:a16="http://schemas.microsoft.com/office/drawing/2014/main" id="{53775B14-7D12-AEE5-4AE4-C8038E848E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102" y="1104545"/>
            <a:ext cx="8965796" cy="4075054"/>
          </a:xfrm>
          <a:prstGeom prst="rect">
            <a:avLst/>
          </a:prstGeo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Overview:</a:t>
            </a:r>
          </a:p>
          <a:p>
            <a:pPr marL="114300" indent="0" algn="just">
              <a:lnSpc>
                <a:spcPct val="150000"/>
              </a:lnSpc>
              <a:buNone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smart water management system designed using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Analysis and Design (OOAD) principles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monitor water consumption, detect possible leakages, and provide timely alerts for efficient water management.</a:t>
            </a:r>
          </a:p>
          <a:p>
            <a:pPr algn="just">
              <a:lnSpc>
                <a:spcPct val="150000"/>
              </a:lnSpc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pPr marL="114300" indent="0" algn="just">
              <a:lnSpc>
                <a:spcPct val="150000"/>
              </a:lnSpc>
              <a:buNone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water distribution and consumption systems often lack continuous monitoring and proper management mechanisms. Water leakages and excessive consumption may remain undetected, resulting in significant water wastage.</a:t>
            </a:r>
          </a:p>
          <a:p>
            <a:pPr algn="just">
              <a:lnSpc>
                <a:spcPct val="150000"/>
              </a:lnSpc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 marL="114300" indent="0" algn="just">
              <a:lnSpc>
                <a:spcPct val="150000"/>
              </a:lnSpc>
              <a:buNone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Smart Water Consumption Monitoring and Leak Detection Management System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monitors water usage, identifies abnormal flow patterns indicating possible leakage, generates timely alerts, and supports efficient water resource management.</a:t>
            </a:r>
          </a:p>
        </p:txBody>
      </p:sp>
      <p:pic>
        <p:nvPicPr>
          <p:cNvPr id="129" name="Google Shape;67;p14" descr="Google Shape;67;p14">
            <a:extLst>
              <a:ext uri="{FF2B5EF4-FFF2-40B4-BE49-F238E27FC236}">
                <a16:creationId xmlns:a16="http://schemas.microsoft.com/office/drawing/2014/main" id="{7669145A-A583-7D8B-8A03-2C07EDF34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00" y="147825"/>
            <a:ext cx="867050" cy="1025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0" name="Google Shape;68;p14" descr="Google Shape;68;p14">
            <a:extLst>
              <a:ext uri="{FF2B5EF4-FFF2-40B4-BE49-F238E27FC236}">
                <a16:creationId xmlns:a16="http://schemas.microsoft.com/office/drawing/2014/main" id="{208CEBEB-FB4A-8A4F-18F0-A45353144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8101" y="147825"/>
            <a:ext cx="1161143" cy="10257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34481439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75;p15" descr="Google Shape;75;p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00" y="147825"/>
            <a:ext cx="867050" cy="1025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" name="Google Shape;76;p15" descr="Google Shape;76;p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8101" y="122425"/>
            <a:ext cx="1161143" cy="102575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Google Shape;73;p15"/>
          <p:cNvSpPr txBox="1">
            <a:spLocks noGrp="1"/>
          </p:cNvSpPr>
          <p:nvPr>
            <p:ph type="title"/>
          </p:nvPr>
        </p:nvSpPr>
        <p:spPr>
          <a:xfrm>
            <a:off x="311699" y="185300"/>
            <a:ext cx="8520602" cy="745411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ctr">
              <a:defRPr sz="44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135" name="Google Shape;74;p15"/>
          <p:cNvSpPr txBox="1">
            <a:spLocks noGrp="1"/>
          </p:cNvSpPr>
          <p:nvPr>
            <p:ph type="body" idx="1"/>
          </p:nvPr>
        </p:nvSpPr>
        <p:spPr>
          <a:xfrm>
            <a:off x="89102" y="1543313"/>
            <a:ext cx="8965796" cy="4142598"/>
          </a:xfrm>
          <a:prstGeom prst="rect">
            <a:avLst/>
          </a:prstGeo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Overview:</a:t>
            </a:r>
          </a:p>
          <a:p>
            <a:pPr marL="114300" indent="0" algn="just">
              <a:lnSpc>
                <a:spcPct val="150000"/>
              </a:lnSpc>
              <a:buNone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water management systems mainly depend on traditional water meters and manual monitoring to track water consumption.</a:t>
            </a:r>
          </a:p>
          <a:p>
            <a:pPr algn="just">
              <a:lnSpc>
                <a:spcPct val="150000"/>
              </a:lnSpc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Limitations:</a:t>
            </a:r>
          </a:p>
          <a:p>
            <a:pPr marL="114300" indent="0" algn="just">
              <a:lnSpc>
                <a:spcPct val="150000"/>
              </a:lnSpc>
              <a:buNone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usage is often monitored periodically rather than in real time, making it difficult to identify excessive consumption and leakage immediately.</a:t>
            </a:r>
          </a:p>
          <a:p>
            <a:pPr algn="just">
              <a:lnSpc>
                <a:spcPct val="150000"/>
              </a:lnSpc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Drawbacks:</a:t>
            </a:r>
          </a:p>
          <a:p>
            <a:pPr marL="114300" indent="0" algn="just">
              <a:lnSpc>
                <a:spcPct val="150000"/>
              </a:lnSpc>
              <a:buNone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may lack automatic leak detection, instant alerts, centralized management, and proper analysis of water consumption patterns, which can result in significant water wastage.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81;p16"/>
          <p:cNvSpPr txBox="1">
            <a:spLocks noGrp="1"/>
          </p:cNvSpPr>
          <p:nvPr>
            <p:ph type="title"/>
          </p:nvPr>
        </p:nvSpPr>
        <p:spPr>
          <a:xfrm>
            <a:off x="989215" y="2432"/>
            <a:ext cx="7198821" cy="1025750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ctr" defTabSz="905255">
              <a:defRPr sz="3366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REVIEW/BACKGROUND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8" name="Google Shape;82;p16" descr="Google Shape;82;p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00" y="25445"/>
            <a:ext cx="867050" cy="1025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" name="Google Shape;83;p16" descr="Google Shape;83;p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5873" y="42448"/>
            <a:ext cx="1161143" cy="1025751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F9BDDDC-51DC-292A-96C4-E44B43D3DA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408276"/>
              </p:ext>
            </p:extLst>
          </p:nvPr>
        </p:nvGraphicFramePr>
        <p:xfrm>
          <a:off x="151707" y="1485038"/>
          <a:ext cx="8873835" cy="3228278"/>
        </p:xfrm>
        <a:graphic>
          <a:graphicData uri="http://schemas.openxmlformats.org/drawingml/2006/table">
            <a:tbl>
              <a:tblPr>
                <a:tableStyleId>{5202B0CA-FC54-4496-8BCA-5EF66A818D29}</a:tableStyleId>
              </a:tblPr>
              <a:tblGrid>
                <a:gridCol w="552796">
                  <a:extLst>
                    <a:ext uri="{9D8B030D-6E8A-4147-A177-3AD203B41FA5}">
                      <a16:colId xmlns:a16="http://schemas.microsoft.com/office/drawing/2014/main" val="2934291318"/>
                    </a:ext>
                  </a:extLst>
                </a:gridCol>
                <a:gridCol w="2211185">
                  <a:extLst>
                    <a:ext uri="{9D8B030D-6E8A-4147-A177-3AD203B41FA5}">
                      <a16:colId xmlns:a16="http://schemas.microsoft.com/office/drawing/2014/main" val="2957024452"/>
                    </a:ext>
                  </a:extLst>
                </a:gridCol>
                <a:gridCol w="1444337">
                  <a:extLst>
                    <a:ext uri="{9D8B030D-6E8A-4147-A177-3AD203B41FA5}">
                      <a16:colId xmlns:a16="http://schemas.microsoft.com/office/drawing/2014/main" val="2291375625"/>
                    </a:ext>
                  </a:extLst>
                </a:gridCol>
                <a:gridCol w="2722418">
                  <a:extLst>
                    <a:ext uri="{9D8B030D-6E8A-4147-A177-3AD203B41FA5}">
                      <a16:colId xmlns:a16="http://schemas.microsoft.com/office/drawing/2014/main" val="214471523"/>
                    </a:ext>
                  </a:extLst>
                </a:gridCol>
                <a:gridCol w="1943099">
                  <a:extLst>
                    <a:ext uri="{9D8B030D-6E8A-4147-A177-3AD203B41FA5}">
                      <a16:colId xmlns:a16="http://schemas.microsoft.com/office/drawing/2014/main" val="4030141499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S.No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Author / 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Methodology Used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solidFill>
                            <a:schemeClr val="tx1"/>
                          </a:solidFill>
                        </a:rPr>
                        <a:t>Drawbacks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6752832"/>
                  </a:ext>
                </a:extLst>
              </a:tr>
              <a:tr h="78524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rPr lang="en-IN" sz="1000" b="0" u="none" strike="noStrike" cap="none" spc="0" baseline="0" dirty="0">
                          <a:solidFill>
                            <a:schemeClr val="tx1"/>
                          </a:solidFill>
                          <a:uFillTx/>
                          <a:sym typeface="Arial"/>
                        </a:rPr>
                        <a:t>Smart Water Management: A Review of IoT-Based Technologies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rPr lang="en-IN" sz="1000" b="0" u="none" strike="noStrike" cap="none" spc="0" baseline="0" dirty="0">
                          <a:solidFill>
                            <a:schemeClr val="tx1"/>
                          </a:solidFill>
                          <a:uFillTx/>
                          <a:sym typeface="Arial"/>
                        </a:rPr>
                        <a:t>S. S. Shinde et al., 2022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rPr lang="en-IN" sz="1000" b="0" u="none" strike="noStrike" cap="none" spc="0" baseline="0" dirty="0">
                          <a:solidFill>
                            <a:schemeClr val="tx1"/>
                          </a:solidFill>
                          <a:uFillTx/>
                          <a:sym typeface="Arial"/>
                        </a:rPr>
                        <a:t>Used IoT sensors and smart monitoring techniques to collect and manage water consumption data.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rPr lang="en-IN" sz="1000" b="0" u="none" strike="noStrike" cap="none" spc="0" baseline="0" dirty="0">
                          <a:solidFill>
                            <a:schemeClr val="tx1"/>
                          </a:solidFill>
                          <a:uFillTx/>
                          <a:sym typeface="Arial"/>
                        </a:rPr>
                        <a:t>Limited focus on integrated leakage management.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9732220"/>
                  </a:ext>
                </a:extLst>
              </a:tr>
              <a:tr h="75416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rPr lang="en-IN" sz="1000" b="0" u="none" strike="noStrike" cap="none" spc="0" baseline="0" dirty="0">
                          <a:solidFill>
                            <a:schemeClr val="tx1"/>
                          </a:solidFill>
                          <a:uFillTx/>
                          <a:sym typeface="Arial"/>
                        </a:rPr>
                        <a:t>IoT-Based Smart Water Monitoring System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rPr lang="en-IN" sz="1000" b="0" u="none" strike="noStrike" cap="none" spc="0" baseline="0" dirty="0">
                          <a:solidFill>
                            <a:schemeClr val="tx1"/>
                          </a:solidFill>
                          <a:uFillTx/>
                          <a:sym typeface="Arial"/>
                        </a:rPr>
                        <a:t>M. A. Al-Kuwari et al., 2023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rPr lang="en-IN" sz="1000" b="0" u="none" strike="noStrike" cap="none" spc="0" baseline="0" dirty="0">
                          <a:solidFill>
                            <a:schemeClr val="tx1"/>
                          </a:solidFill>
                          <a:uFillTx/>
                          <a:sym typeface="Arial"/>
                        </a:rPr>
                        <a:t>Used flow sensors, microcontrollers, and IoT communication for real-time water monitoring.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rPr lang="en-IN" sz="1000" b="0" u="none" strike="noStrike" cap="none" spc="0" baseline="0" dirty="0">
                          <a:solidFill>
                            <a:schemeClr val="tx1"/>
                          </a:solidFill>
                          <a:uFillTx/>
                          <a:sym typeface="Arial"/>
                        </a:rPr>
                        <a:t>Depends on network connectivity and sensor accuracy.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9776738"/>
                  </a:ext>
                </a:extLst>
              </a:tr>
              <a:tr h="6899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rPr lang="en-IN" sz="1000" b="0" u="none" strike="noStrike" cap="none" spc="0" baseline="0" dirty="0">
                          <a:solidFill>
                            <a:schemeClr val="tx1"/>
                          </a:solidFill>
                          <a:uFillTx/>
                          <a:sym typeface="Arial"/>
                        </a:rPr>
                        <a:t>Water Leakage Detection Using Smart Sensors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rPr lang="en-IN" sz="1000" b="0" u="none" strike="noStrike" cap="none" spc="0" baseline="0" dirty="0">
                          <a:solidFill>
                            <a:schemeClr val="tx1"/>
                          </a:solidFill>
                          <a:uFillTx/>
                          <a:sym typeface="Arial"/>
                        </a:rPr>
                        <a:t>A. Kumar, R. Sharma &amp; P. Singh, 2024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rPr lang="en-IN" sz="1000" b="0" u="none" strike="noStrike" cap="none" spc="0" baseline="0" dirty="0">
                          <a:solidFill>
                            <a:schemeClr val="tx1"/>
                          </a:solidFill>
                          <a:uFillTx/>
                          <a:sym typeface="Arial"/>
                        </a:rPr>
                        <a:t>Analysed water flow patterns and sensor readings to identify possible leakage conditions.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rPr lang="en-IN" sz="1000" b="0" u="none" strike="noStrike" cap="none" spc="0" baseline="0" dirty="0">
                          <a:solidFill>
                            <a:schemeClr val="tx1"/>
                          </a:solidFill>
                          <a:uFillTx/>
                          <a:sym typeface="Arial"/>
                        </a:rPr>
                        <a:t>False detection may occur during irregular water usage.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1192974"/>
                  </a:ext>
                </a:extLst>
              </a:tr>
              <a:tr h="73983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rPr lang="en-IN" sz="1000" b="0" u="none" strike="noStrike" cap="none" spc="0" baseline="0" dirty="0">
                          <a:solidFill>
                            <a:schemeClr val="tx1"/>
                          </a:solidFill>
                          <a:uFillTx/>
                          <a:sym typeface="Arial"/>
                        </a:rPr>
                        <a:t>Real-Time Water Consumption Monitoring Using IoT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rPr lang="en-IN" sz="1000" b="0" u="none" strike="noStrike" cap="none" spc="0" baseline="0" dirty="0">
                          <a:solidFill>
                            <a:schemeClr val="tx1"/>
                          </a:solidFill>
                          <a:uFillTx/>
                          <a:sym typeface="Arial"/>
                        </a:rPr>
                        <a:t>S. Patel, N. Gupta &amp; R. Verma, 2024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rPr lang="en-IN" sz="1000" b="0" u="none" strike="noStrike" cap="none" spc="0" baseline="0" dirty="0">
                          <a:solidFill>
                            <a:schemeClr val="tx1"/>
                          </a:solidFill>
                          <a:uFillTx/>
                          <a:sym typeface="Arial"/>
                        </a:rPr>
                        <a:t>Used smart meters and IoT platforms for continuous monitoring of water consumption.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rPr lang="en-IN" sz="1000" b="0" u="none" strike="noStrike" cap="none" spc="0" baseline="0" dirty="0">
                          <a:solidFill>
                            <a:schemeClr val="tx1"/>
                          </a:solidFill>
                          <a:uFillTx/>
                          <a:sym typeface="Arial"/>
                        </a:rPr>
                        <a:t>Requires regular sensor calibration and maintenance.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9898837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90;p17"/>
          <p:cNvSpPr txBox="1"/>
          <p:nvPr/>
        </p:nvSpPr>
        <p:spPr>
          <a:xfrm>
            <a:off x="152400" y="1598493"/>
            <a:ext cx="8796844" cy="2731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91424" tIns="91424" rIns="91424" bIns="91424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water management systems mainly rely on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monitoring and periodic meter readings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leakage and abnormal water consumption may remain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undetected for a long time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resulting in water wastage.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often lack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water consumption and flow patterns.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limited capability for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detection of abnormal or continuous water flow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conventional systems do not provide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instant alerts and centralized management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leakage conditions.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for a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Water Consumption Monitoring and Leak Detection Management System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provides real-time monitoring, automatic leak detection, timely alerts, and efficient water management. </a:t>
            </a:r>
          </a:p>
        </p:txBody>
      </p:sp>
      <p:pic>
        <p:nvPicPr>
          <p:cNvPr id="143" name="Google Shape;91;p17" descr="Google Shape;91;p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00" y="147825"/>
            <a:ext cx="867050" cy="1025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4" name="Google Shape;92;p17" descr="Google Shape;92;p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8101" y="147825"/>
            <a:ext cx="1161143" cy="1025750"/>
          </a:xfrm>
          <a:prstGeom prst="rect">
            <a:avLst/>
          </a:prstGeom>
          <a:ln w="12700">
            <a:miter lim="400000"/>
          </a:ln>
        </p:spPr>
      </p:pic>
      <p:sp>
        <p:nvSpPr>
          <p:cNvPr id="145" name="Google Shape;89;p17"/>
          <p:cNvSpPr txBox="1">
            <a:spLocks noGrp="1"/>
          </p:cNvSpPr>
          <p:nvPr>
            <p:ph type="title"/>
          </p:nvPr>
        </p:nvSpPr>
        <p:spPr>
          <a:xfrm>
            <a:off x="1509414" y="217342"/>
            <a:ext cx="6125172" cy="745412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ctr" defTabSz="905255">
              <a:defRPr sz="4356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05;p19"/>
          <p:cNvSpPr txBox="1">
            <a:spLocks noGrp="1"/>
          </p:cNvSpPr>
          <p:nvPr>
            <p:ph type="title"/>
          </p:nvPr>
        </p:nvSpPr>
        <p:spPr>
          <a:xfrm>
            <a:off x="311699" y="264756"/>
            <a:ext cx="8520602" cy="572701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ctr" defTabSz="694944">
              <a:defRPr sz="2964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dirty="0"/>
          </a:p>
        </p:txBody>
      </p:sp>
      <p:sp>
        <p:nvSpPr>
          <p:cNvPr id="153" name="Google Shape;106;p19"/>
          <p:cNvSpPr txBox="1">
            <a:spLocks noGrp="1"/>
          </p:cNvSpPr>
          <p:nvPr>
            <p:ph type="body" idx="1"/>
          </p:nvPr>
        </p:nvSpPr>
        <p:spPr>
          <a:xfrm>
            <a:off x="92243" y="995453"/>
            <a:ext cx="8951494" cy="4226250"/>
          </a:xfrm>
          <a:prstGeom prst="rect">
            <a:avLst/>
          </a:prstGeom>
        </p:spPr>
        <p:txBody>
          <a:bodyPr>
            <a:noAutofit/>
          </a:bodyPr>
          <a:lstStyle/>
          <a:p>
            <a:pPr marL="114300" indent="0" algn="just">
              <a:lnSpc>
                <a:spcPct val="150000"/>
              </a:lnSpc>
              <a:buNone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Stack:</a:t>
            </a:r>
          </a:p>
          <a:p>
            <a:pPr marL="114300" indent="0" algn="just">
              <a:lnSpc>
                <a:spcPct val="150000"/>
              </a:lnSpc>
              <a:buNone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StarUML/Umbrello, OOAD, UML Diagrams, HTML, CSS, JavaScript, MySQL, Git/GitHub.</a:t>
            </a:r>
          </a:p>
          <a:p>
            <a:pPr marL="114300" indent="0" algn="just">
              <a:lnSpc>
                <a:spcPct val="150000"/>
              </a:lnSpc>
              <a:buNone/>
            </a:pP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</a:t>
            </a:r>
          </a:p>
          <a:p>
            <a:pPr marL="114300" lvl="0" indent="0" algn="just">
              <a:lnSpc>
                <a:spcPct val="150000"/>
              </a:lnSpc>
              <a:buNone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follows an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architecture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consisting of the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Layer, Business Logic Layer, and Database Layer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14300" lvl="0" indent="0" algn="just">
              <a:lnSpc>
                <a:spcPct val="150000"/>
              </a:lnSpc>
              <a:buNone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interact with the system to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water consumption, view usage records, and receive leakage alerts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14300" lvl="0" indent="0" algn="just">
              <a:lnSpc>
                <a:spcPct val="150000"/>
              </a:lnSpc>
              <a:buNone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business logic processes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consumption data, identifies abnormal usage patterns, and manages leak detection and alert notifications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14300" lvl="0" indent="0" algn="just">
              <a:lnSpc>
                <a:spcPct val="150000"/>
              </a:lnSpc>
              <a:buNone/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details, water consumption records, leakage information, and alert data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securely stored and managed in the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ensuring an efficient and maintainable water management system. </a:t>
            </a:r>
          </a:p>
        </p:txBody>
      </p:sp>
      <p:pic>
        <p:nvPicPr>
          <p:cNvPr id="154" name="Google Shape;107;p19" descr="Google Shape;107;p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900" y="79638"/>
            <a:ext cx="867050" cy="1025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5" name="Google Shape;108;p19" descr="Google Shape;108;p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4090" y="135792"/>
            <a:ext cx="1161143" cy="10257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14;p20" descr="Google Shape;114;p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00" y="147825"/>
            <a:ext cx="867050" cy="1025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8" name="Google Shape;115;p20" descr="Google Shape;115;p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8101" y="147825"/>
            <a:ext cx="1161143" cy="1025750"/>
          </a:xfrm>
          <a:prstGeom prst="rect">
            <a:avLst/>
          </a:prstGeom>
          <a:ln w="12700">
            <a:miter lim="400000"/>
          </a:ln>
        </p:spPr>
      </p:pic>
      <p:sp>
        <p:nvSpPr>
          <p:cNvPr id="159" name="Google Shape;113;p20"/>
          <p:cNvSpPr txBox="1">
            <a:spLocks noGrp="1"/>
          </p:cNvSpPr>
          <p:nvPr>
            <p:ph type="title"/>
          </p:nvPr>
        </p:nvSpPr>
        <p:spPr>
          <a:xfrm>
            <a:off x="311699" y="280800"/>
            <a:ext cx="8520602" cy="572701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ctr" defTabSz="694944">
              <a:defRPr sz="2964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/>
              <a:t>SYSTEM DESIGN /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A8C543-0497-7D8C-F85E-6E492A4051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280" y="1089266"/>
            <a:ext cx="6700821" cy="359541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31;p22" descr="Google Shape;131;p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00" y="147825"/>
            <a:ext cx="867050" cy="1025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9" name="Google Shape;132;p22" descr="Google Shape;132;p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8101" y="147825"/>
            <a:ext cx="1161143" cy="1025750"/>
          </a:xfrm>
          <a:prstGeom prst="rect">
            <a:avLst/>
          </a:prstGeom>
          <a:ln w="12700">
            <a:miter lim="400000"/>
          </a:ln>
        </p:spPr>
      </p:pic>
      <p:sp>
        <p:nvSpPr>
          <p:cNvPr id="170" name="Google Shape;129;p22"/>
          <p:cNvSpPr txBox="1">
            <a:spLocks noGrp="1"/>
          </p:cNvSpPr>
          <p:nvPr>
            <p:ph type="title"/>
          </p:nvPr>
        </p:nvSpPr>
        <p:spPr>
          <a:xfrm>
            <a:off x="3189333" y="199131"/>
            <a:ext cx="2765334" cy="745412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ctr" defTabSz="822959">
              <a:defRPr sz="3959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MODULES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8595B2-91AA-6D28-788B-686B33E6877F}"/>
              </a:ext>
            </a:extLst>
          </p:cNvPr>
          <p:cNvSpPr txBox="1"/>
          <p:nvPr/>
        </p:nvSpPr>
        <p:spPr>
          <a:xfrm>
            <a:off x="268839" y="1697070"/>
            <a:ext cx="8606322" cy="22159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Water Consumption Monitoring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Leak Detection and Alert Management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	Alert &amp; Notification Management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	System Administration &amp; Monitoring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6B910-16E8-5E06-0975-60B2F6BA3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37;p23">
            <a:extLst>
              <a:ext uri="{FF2B5EF4-FFF2-40B4-BE49-F238E27FC236}">
                <a16:creationId xmlns:a16="http://schemas.microsoft.com/office/drawing/2014/main" id="{35A4339C-E019-8449-259A-8E7E04FC55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5826" y="225668"/>
            <a:ext cx="7000201" cy="865982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758951">
              <a:spcBef>
                <a:spcPts val="900"/>
              </a:spcBef>
              <a:defRPr sz="249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dirty="0"/>
              <a:t>Module 1: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Consumption Monitoring</a:t>
            </a:r>
            <a:endParaRPr dirty="0"/>
          </a:p>
        </p:txBody>
      </p:sp>
      <p:pic>
        <p:nvPicPr>
          <p:cNvPr id="174" name="Google Shape;139;p23" descr="Google Shape;139;p23">
            <a:extLst>
              <a:ext uri="{FF2B5EF4-FFF2-40B4-BE49-F238E27FC236}">
                <a16:creationId xmlns:a16="http://schemas.microsoft.com/office/drawing/2014/main" id="{2A5EEF7D-163F-A725-68D1-70EA1B6A9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74" y="65899"/>
            <a:ext cx="867051" cy="1025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5" name="Google Shape;140;p23" descr="Google Shape;140;p23">
            <a:extLst>
              <a:ext uri="{FF2B5EF4-FFF2-40B4-BE49-F238E27FC236}">
                <a16:creationId xmlns:a16="http://schemas.microsoft.com/office/drawing/2014/main" id="{2996AEEF-0545-F7A9-827B-3D6980FE1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5150" y="65899"/>
            <a:ext cx="1161143" cy="102575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C1D821-73F3-6C75-CF1C-2E4CB32C2D55}"/>
              </a:ext>
            </a:extLst>
          </p:cNvPr>
          <p:cNvSpPr txBox="1"/>
          <p:nvPr/>
        </p:nvSpPr>
        <p:spPr>
          <a:xfrm>
            <a:off x="176463" y="1319261"/>
            <a:ext cx="8780501" cy="35548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monitor water consumption, analyze usage patterns, and maintain water usage records.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Analysis, SRS, Use Case Analysis, Class Identification, and UML Modeling.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module manages water usage data, monitors consumption levels, identifies excessive usage, and maintains consumption records.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Deliverables: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Diagram, Class Diagram, Activity Diagram, and Water Consumption Records.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Well-organized water consumption information, usage analysis, and monitoring reports.</a:t>
            </a:r>
          </a:p>
        </p:txBody>
      </p:sp>
    </p:spTree>
    <p:extLst>
      <p:ext uri="{BB962C8B-B14F-4D97-AF65-F5344CB8AC3E}">
        <p14:creationId xmlns:p14="http://schemas.microsoft.com/office/powerpoint/2010/main" val="76599077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00C3F-D387-4579-643A-0E338C800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Module 1: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Consumption Monitoring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9B667-C875-7A81-63AB-AE44E998D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IN" dirty="0"/>
          </a:p>
        </p:txBody>
      </p:sp>
      <p:pic>
        <p:nvPicPr>
          <p:cNvPr id="5" name="Google Shape;139;p23" descr="Google Shape;139;p23">
            <a:extLst>
              <a:ext uri="{FF2B5EF4-FFF2-40B4-BE49-F238E27FC236}">
                <a16:creationId xmlns:a16="http://schemas.microsoft.com/office/drawing/2014/main" id="{B4BE1397-2977-2DEC-F2CA-234EE4A21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4" y="65899"/>
            <a:ext cx="867051" cy="1025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Google Shape;140;p23" descr="Google Shape;140;p23">
            <a:extLst>
              <a:ext uri="{FF2B5EF4-FFF2-40B4-BE49-F238E27FC236}">
                <a16:creationId xmlns:a16="http://schemas.microsoft.com/office/drawing/2014/main" id="{0F310018-D91F-E141-108B-2A7F0E623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5150" y="65899"/>
            <a:ext cx="1161143" cy="1025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77BA08-E015-CDB1-F929-5427F3AD30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392" y="1274063"/>
            <a:ext cx="8272272" cy="322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19640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3514F-BA3D-1DB1-17B9-4CBBAC1DD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37;p23">
            <a:extLst>
              <a:ext uri="{FF2B5EF4-FFF2-40B4-BE49-F238E27FC236}">
                <a16:creationId xmlns:a16="http://schemas.microsoft.com/office/drawing/2014/main" id="{61E75320-6157-556C-C616-7085DA8148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5826" y="225668"/>
            <a:ext cx="7000201" cy="865982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ctr" defTabSz="758951">
              <a:spcBef>
                <a:spcPts val="900"/>
              </a:spcBef>
              <a:defRPr sz="249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dirty="0"/>
              <a:t>Module </a:t>
            </a:r>
            <a:r>
              <a:rPr lang="en-IN" dirty="0"/>
              <a:t>2</a:t>
            </a:r>
            <a:r>
              <a:rPr dirty="0"/>
              <a:t>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 Detection and Alert Management</a:t>
            </a:r>
            <a:endParaRPr dirty="0"/>
          </a:p>
        </p:txBody>
      </p:sp>
      <p:pic>
        <p:nvPicPr>
          <p:cNvPr id="174" name="Google Shape;139;p23" descr="Google Shape;139;p23">
            <a:extLst>
              <a:ext uri="{FF2B5EF4-FFF2-40B4-BE49-F238E27FC236}">
                <a16:creationId xmlns:a16="http://schemas.microsoft.com/office/drawing/2014/main" id="{81FA0B26-51ED-D56C-F98E-45FAD350F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74" y="65899"/>
            <a:ext cx="867051" cy="1025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5" name="Google Shape;140;p23" descr="Google Shape;140;p23">
            <a:extLst>
              <a:ext uri="{FF2B5EF4-FFF2-40B4-BE49-F238E27FC236}">
                <a16:creationId xmlns:a16="http://schemas.microsoft.com/office/drawing/2014/main" id="{E6330BD1-BAE3-2A46-D3F2-C44C154246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5150" y="65899"/>
            <a:ext cx="1161143" cy="102575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CE3118-2C48-41DC-319F-847BA6577A71}"/>
              </a:ext>
            </a:extLst>
          </p:cNvPr>
          <p:cNvSpPr txBox="1"/>
          <p:nvPr/>
        </p:nvSpPr>
        <p:spPr>
          <a:xfrm>
            <a:off x="120074" y="1005537"/>
            <a:ext cx="9023925" cy="420115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intelligent module for detecting water leakage and managing alerts using Object-Oriented Analysis and Design (OOAD) principles.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modelling techniques such as Use Case, Class, Activity, and Sequence diagrams are used to represent leak detection, alert generation, and system interactions.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module identifies abnormal water usage, detects possible leakages, manages alert notifications, and maintains leakage history.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module delivers leak detection models, alert management design, UML diagrams, and leakage record management.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complete leak detection and alert management system design with UML diagrams, alert records, and leakage reports.</a:t>
            </a:r>
          </a:p>
        </p:txBody>
      </p:sp>
    </p:spTree>
    <p:extLst>
      <p:ext uri="{BB962C8B-B14F-4D97-AF65-F5344CB8AC3E}">
        <p14:creationId xmlns:p14="http://schemas.microsoft.com/office/powerpoint/2010/main" val="295968427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98C46-8347-B81C-45B2-B71021E55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Module 2: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 Detection and Alert Management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E6101-067E-FE5B-4E65-A86D6BB401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IN" dirty="0"/>
          </a:p>
        </p:txBody>
      </p:sp>
      <p:pic>
        <p:nvPicPr>
          <p:cNvPr id="5" name="Google Shape;139;p23" descr="Google Shape;139;p23">
            <a:extLst>
              <a:ext uri="{FF2B5EF4-FFF2-40B4-BE49-F238E27FC236}">
                <a16:creationId xmlns:a16="http://schemas.microsoft.com/office/drawing/2014/main" id="{2DF30BB9-B561-9989-3F12-F33BBD000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4" y="65899"/>
            <a:ext cx="867051" cy="1025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Google Shape;209;p30" descr="Google Shape;209;p30">
            <a:extLst>
              <a:ext uri="{FF2B5EF4-FFF2-40B4-BE49-F238E27FC236}">
                <a16:creationId xmlns:a16="http://schemas.microsoft.com/office/drawing/2014/main" id="{DA678C3D-4BE6-FDB4-4051-AE874CA4D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589" y="48072"/>
            <a:ext cx="1161143" cy="1025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D03BE0-C05B-724B-CE13-92061ED306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951" y="1170303"/>
            <a:ext cx="8400289" cy="3310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809721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C82D3-778A-68AD-94EF-09B7C86C5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Alert &amp; Notification Management</a:t>
            </a:r>
            <a:b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4BDD7F-20DE-2A50-8BE8-769F0D8C1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500" y="1152474"/>
            <a:ext cx="8641801" cy="3785285"/>
          </a:xfrm>
        </p:spPr>
        <p:txBody>
          <a:bodyPr>
            <a:norm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detect leakage events, generate alerts, and notify users or administrators about abnormal water usage.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  <a:b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Analysis, Use Case Analysis, Sequence Modelling, Activity Modelling, and UML Design.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b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module detects abnormal water flow, generates leakage alerts, assigns alert severity, notifies users or administrators, and tracks alert status.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Deliverables:</a:t>
            </a:r>
            <a:b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Diagram, Activity Diagram, Alert Management Model, and Notification Records.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b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Timely leakage notifications, alert status information, and improved response to abnormal water usage.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139;p23" descr="Google Shape;139;p23">
            <a:extLst>
              <a:ext uri="{FF2B5EF4-FFF2-40B4-BE49-F238E27FC236}">
                <a16:creationId xmlns:a16="http://schemas.microsoft.com/office/drawing/2014/main" id="{DB9FB5D5-AF90-1192-F106-8BB2A5FA9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4" y="65899"/>
            <a:ext cx="867051" cy="1025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Google Shape;209;p30" descr="Google Shape;209;p30">
            <a:extLst>
              <a:ext uri="{FF2B5EF4-FFF2-40B4-BE49-F238E27FC236}">
                <a16:creationId xmlns:a16="http://schemas.microsoft.com/office/drawing/2014/main" id="{2B3351FA-6E89-95F3-2FAE-9F98EDB30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589" y="48072"/>
            <a:ext cx="1161143" cy="10257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69011319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718D3-99B1-162B-3C94-6075C5E79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Alert &amp; Notification Management</a:t>
            </a:r>
            <a:b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DCB01-B6F9-254E-BBB6-952D7E4D63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Google Shape;139;p23" descr="Google Shape;139;p23">
            <a:extLst>
              <a:ext uri="{FF2B5EF4-FFF2-40B4-BE49-F238E27FC236}">
                <a16:creationId xmlns:a16="http://schemas.microsoft.com/office/drawing/2014/main" id="{D6227E44-E502-CE43-F2BA-3934CBDAF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4" y="65899"/>
            <a:ext cx="867051" cy="1025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Google Shape;209;p30" descr="Google Shape;209;p30">
            <a:extLst>
              <a:ext uri="{FF2B5EF4-FFF2-40B4-BE49-F238E27FC236}">
                <a16:creationId xmlns:a16="http://schemas.microsoft.com/office/drawing/2014/main" id="{80B6554A-2E20-AC6E-1982-52A922DB0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589" y="48072"/>
            <a:ext cx="1161143" cy="1025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7F0E200-D956-66F5-A0D1-C7BAB82CCC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" y="1226398"/>
            <a:ext cx="8244840" cy="3170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06996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DEC7D-F211-60A0-7530-2B585F3FD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System Administration &amp; Monitoring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CD4E70-84E8-0458-0B08-E3EFFFFD7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" y="1152475"/>
            <a:ext cx="8771341" cy="3925126"/>
          </a:xfrm>
        </p:spPr>
        <p:txBody>
          <a:bodyPr>
            <a:normAutofit lnSpcReduction="10000"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manage system users, configure monitoring parameters, monitor system status, and support overall system administration.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  <a:b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Analysis, Use Case Analysis, Class Identification, UML Modelling, and System Design.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b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module manages users, configures leakage thresholds, monitors system status, manages system settings, and supports report generation.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Deliverables:</a:t>
            </a:r>
            <a:b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Diagram, Class Diagram, Activity Diagram, and System Administration Model.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b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Well-managed system configuration, user administration, monitoring information, and system reports.</a:t>
            </a:r>
          </a:p>
        </p:txBody>
      </p:sp>
      <p:pic>
        <p:nvPicPr>
          <p:cNvPr id="7" name="Google Shape;139;p23" descr="Google Shape;139;p23">
            <a:extLst>
              <a:ext uri="{FF2B5EF4-FFF2-40B4-BE49-F238E27FC236}">
                <a16:creationId xmlns:a16="http://schemas.microsoft.com/office/drawing/2014/main" id="{4745F628-6B77-3330-A942-C0B692CA4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4" y="65899"/>
            <a:ext cx="867051" cy="1025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Google Shape;209;p30" descr="Google Shape;209;p30">
            <a:extLst>
              <a:ext uri="{FF2B5EF4-FFF2-40B4-BE49-F238E27FC236}">
                <a16:creationId xmlns:a16="http://schemas.microsoft.com/office/drawing/2014/main" id="{BA72BE00-9728-022C-13E9-53D806387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589" y="48072"/>
            <a:ext cx="1161143" cy="10257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69137783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2D987-066C-DF87-478D-77BA3DC8A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System Administration &amp; Monitoring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163D74-426C-6FFB-A620-D800C8B26F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Google Shape;139;p23" descr="Google Shape;139;p23">
            <a:extLst>
              <a:ext uri="{FF2B5EF4-FFF2-40B4-BE49-F238E27FC236}">
                <a16:creationId xmlns:a16="http://schemas.microsoft.com/office/drawing/2014/main" id="{7D3660D9-A463-8A82-8BDD-23C8C0A5E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4" y="65899"/>
            <a:ext cx="867051" cy="1025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Google Shape;209;p30" descr="Google Shape;209;p30">
            <a:extLst>
              <a:ext uri="{FF2B5EF4-FFF2-40B4-BE49-F238E27FC236}">
                <a16:creationId xmlns:a16="http://schemas.microsoft.com/office/drawing/2014/main" id="{E2E02627-8B31-5CB4-DAAA-94F561D98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589" y="48072"/>
            <a:ext cx="1161143" cy="1025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7ED2F1-539D-86B1-7B68-C243212CE0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" y="1226398"/>
            <a:ext cx="8252460" cy="3261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89085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5D2C5-5DFF-80C9-BF3A-9D78ABDFA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UML Diagrams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BE11CA-9D14-0049-810E-65DDD10BD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143" y="1244990"/>
            <a:ext cx="8092319" cy="3193367"/>
          </a:xfrm>
          <a:prstGeom prst="rect">
            <a:avLst/>
          </a:prstGeom>
        </p:spPr>
      </p:pic>
      <p:pic>
        <p:nvPicPr>
          <p:cNvPr id="6" name="Google Shape;139;p23" descr="Google Shape;139;p23">
            <a:extLst>
              <a:ext uri="{FF2B5EF4-FFF2-40B4-BE49-F238E27FC236}">
                <a16:creationId xmlns:a16="http://schemas.microsoft.com/office/drawing/2014/main" id="{9264B6A4-E73C-BA5D-0A57-E741758B4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74" y="65899"/>
            <a:ext cx="867051" cy="1025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Google Shape;209;p30" descr="Google Shape;209;p30">
            <a:extLst>
              <a:ext uri="{FF2B5EF4-FFF2-40B4-BE49-F238E27FC236}">
                <a16:creationId xmlns:a16="http://schemas.microsoft.com/office/drawing/2014/main" id="{B0DA5A2E-4859-E5D9-9D41-ED44215ED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6589" y="48072"/>
            <a:ext cx="1161143" cy="10257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44145707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B1EC6-0D6F-F7D1-8073-A338A2A9D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UML Diagrams </a:t>
            </a:r>
            <a:endParaRPr lang="en-IN" dirty="0"/>
          </a:p>
        </p:txBody>
      </p:sp>
      <p:pic>
        <p:nvPicPr>
          <p:cNvPr id="5" name="Google Shape;139;p23" descr="Google Shape;139;p23">
            <a:extLst>
              <a:ext uri="{FF2B5EF4-FFF2-40B4-BE49-F238E27FC236}">
                <a16:creationId xmlns:a16="http://schemas.microsoft.com/office/drawing/2014/main" id="{B02CDC9A-A2DF-2B24-19BE-2A9127439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4" y="65899"/>
            <a:ext cx="867051" cy="1025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Google Shape;209;p30" descr="Google Shape;209;p30">
            <a:extLst>
              <a:ext uri="{FF2B5EF4-FFF2-40B4-BE49-F238E27FC236}">
                <a16:creationId xmlns:a16="http://schemas.microsoft.com/office/drawing/2014/main" id="{9EB04672-4A9B-7BEC-BE42-8C89472C8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589" y="48072"/>
            <a:ext cx="1161143" cy="1025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521728-50FD-7FE7-D363-0F6EF1A07B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997" y="1226398"/>
            <a:ext cx="8243667" cy="3148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011714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AC07A-0E9B-439F-4066-421E325E6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UML Diagrams </a:t>
            </a:r>
            <a:endParaRPr lang="en-IN" b="1" dirty="0"/>
          </a:p>
        </p:txBody>
      </p:sp>
      <p:pic>
        <p:nvPicPr>
          <p:cNvPr id="5" name="Google Shape;139;p23" descr="Google Shape;139;p23">
            <a:extLst>
              <a:ext uri="{FF2B5EF4-FFF2-40B4-BE49-F238E27FC236}">
                <a16:creationId xmlns:a16="http://schemas.microsoft.com/office/drawing/2014/main" id="{8AA0B553-AB1C-7965-6252-94B7D125A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4" y="65899"/>
            <a:ext cx="867051" cy="1025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Google Shape;209;p30" descr="Google Shape;209;p30">
            <a:extLst>
              <a:ext uri="{FF2B5EF4-FFF2-40B4-BE49-F238E27FC236}">
                <a16:creationId xmlns:a16="http://schemas.microsoft.com/office/drawing/2014/main" id="{3AB7F110-164C-367B-046A-A6733A25B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589" y="48072"/>
            <a:ext cx="1161143" cy="1025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6E2A0D-B4FF-F09A-50A4-C7E67C6C4A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233" y="1226399"/>
            <a:ext cx="8236635" cy="315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652786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206;p30"/>
          <p:cNvSpPr txBox="1">
            <a:spLocks noGrp="1"/>
          </p:cNvSpPr>
          <p:nvPr>
            <p:ph type="title"/>
          </p:nvPr>
        </p:nvSpPr>
        <p:spPr>
          <a:xfrm>
            <a:off x="382820" y="136021"/>
            <a:ext cx="8520601" cy="572701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ctr" defTabSz="713231">
              <a:lnSpc>
                <a:spcPct val="115000"/>
              </a:lnSpc>
              <a:spcBef>
                <a:spcPts val="900"/>
              </a:spcBef>
              <a:defRPr sz="2964" b="1" cap="all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/>
              <a:t>Results and Discussion</a:t>
            </a:r>
          </a:p>
        </p:txBody>
      </p:sp>
      <p:sp>
        <p:nvSpPr>
          <p:cNvPr id="198" name="Google Shape;207;p30"/>
          <p:cNvSpPr txBox="1">
            <a:spLocks noGrp="1"/>
          </p:cNvSpPr>
          <p:nvPr>
            <p:ph type="body" idx="1"/>
          </p:nvPr>
        </p:nvSpPr>
        <p:spPr>
          <a:xfrm>
            <a:off x="169459" y="1222838"/>
            <a:ext cx="8805082" cy="4026584"/>
          </a:xfrm>
          <a:prstGeom prst="rect">
            <a:avLst/>
          </a:prstGeo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enables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of water consumption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helps identify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abnormal water usage and possible leakages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OOAD design provides a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modular and maintainable system architecture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supports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analysis of water usage patterns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design helps in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reducing water wastage and improving water management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14300" indent="0" algn="just">
              <a:lnSpc>
                <a:spcPct val="150000"/>
              </a:lnSpc>
              <a:buNone/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Output Delivered:</a:t>
            </a:r>
          </a:p>
          <a:p>
            <a:pPr lvl="0" algn="just">
              <a:lnSpc>
                <a:spcPct val="150000"/>
              </a:lnSpc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Consumption Monitoring Module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tracking water usage. </a:t>
            </a:r>
          </a:p>
          <a:p>
            <a:pPr lvl="0" algn="just">
              <a:lnSpc>
                <a:spcPct val="150000"/>
              </a:lnSpc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Leak Detection and Alert Management Module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managing leakage alerts. </a:t>
            </a:r>
          </a:p>
          <a:p>
            <a:pPr lvl="0" algn="just">
              <a:lnSpc>
                <a:spcPct val="150000"/>
              </a:lnSpc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UML diagrams and database design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complete system development. </a:t>
            </a:r>
          </a:p>
          <a:p>
            <a:pPr lvl="0" algn="just">
              <a:lnSpc>
                <a:spcPct val="150000"/>
              </a:lnSpc>
            </a:pP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Centralized records and reports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efficient water management. </a:t>
            </a:r>
          </a:p>
        </p:txBody>
      </p:sp>
      <p:pic>
        <p:nvPicPr>
          <p:cNvPr id="199" name="Google Shape;208;p30" descr="Google Shape;208;p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4" y="56388"/>
            <a:ext cx="867051" cy="1025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0" name="Google Shape;209;p30" descr="Google Shape;209;p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589" y="48072"/>
            <a:ext cx="1161143" cy="10257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14;p31"/>
          <p:cNvSpPr txBox="1">
            <a:spLocks noGrp="1"/>
          </p:cNvSpPr>
          <p:nvPr>
            <p:ph type="title"/>
          </p:nvPr>
        </p:nvSpPr>
        <p:spPr>
          <a:xfrm>
            <a:off x="311699" y="374349"/>
            <a:ext cx="8520602" cy="799202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ctr">
              <a:lnSpc>
                <a:spcPct val="115000"/>
              </a:lnSpc>
              <a:spcBef>
                <a:spcPts val="1200"/>
              </a:spcBef>
              <a:defRPr sz="38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/>
              <a:t>CHALLENGES AND LIMITATIONS</a:t>
            </a:r>
          </a:p>
        </p:txBody>
      </p:sp>
      <p:sp>
        <p:nvSpPr>
          <p:cNvPr id="203" name="Google Shape;215;p31"/>
          <p:cNvSpPr txBox="1">
            <a:spLocks noGrp="1"/>
          </p:cNvSpPr>
          <p:nvPr>
            <p:ph type="body" idx="1"/>
          </p:nvPr>
        </p:nvSpPr>
        <p:spPr>
          <a:xfrm>
            <a:off x="120074" y="1450996"/>
            <a:ext cx="8980814" cy="3318155"/>
          </a:xfrm>
          <a:prstGeom prst="rect">
            <a:avLst/>
          </a:prstGeo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 water consumption monitoring depends on the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reliability and calibration of the water flow data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Detecting leakages can be challenging when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water usage patterns are irregular or unpredictable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may generate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 alerts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if abnormal water consumption is incorrectly identified as leakage. </a:t>
            </a:r>
          </a:p>
          <a:p>
            <a:pPr lvl="0" algn="just"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Maintaining accurate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consumption, leakage, and alert records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requires proper database management. </a:t>
            </a:r>
          </a:p>
          <a:p>
            <a:pPr lvl="0" algn="just"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architecture should be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maintainable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support future users, devices, and additional monitoring features. </a:t>
            </a:r>
          </a:p>
          <a:p>
            <a:pPr lvl="0" algn="just"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may depend on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 sensor data and proper communication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effective monitoring and alert generation. </a:t>
            </a:r>
          </a:p>
          <a:p>
            <a:pPr lvl="0" algn="just"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expansion may require additional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IoT devices and advanced analytics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increasing system complexity.</a:t>
            </a:r>
          </a:p>
          <a:p>
            <a:pPr lvl="0" algn="just">
              <a:lnSpc>
                <a:spcPct val="150000"/>
              </a:lnSpc>
            </a:pPr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" name="Google Shape;216;p31" descr="Google Shape;216;p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4" y="147825"/>
            <a:ext cx="867051" cy="1025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" name="Google Shape;217;p31" descr="Google Shape;217;p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901" y="147825"/>
            <a:ext cx="1161143" cy="10257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22;p32"/>
          <p:cNvSpPr txBox="1">
            <a:spLocks noGrp="1"/>
          </p:cNvSpPr>
          <p:nvPr>
            <p:ph type="title"/>
          </p:nvPr>
        </p:nvSpPr>
        <p:spPr>
          <a:xfrm>
            <a:off x="311699" y="301649"/>
            <a:ext cx="8520602" cy="572702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ctr" defTabSz="621791">
              <a:lnSpc>
                <a:spcPct val="115000"/>
              </a:lnSpc>
              <a:spcBef>
                <a:spcPts val="900"/>
              </a:spcBef>
              <a:defRPr sz="2992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/>
              <a:t>FUTURE SCOPE</a:t>
            </a:r>
          </a:p>
        </p:txBody>
      </p:sp>
      <p:sp>
        <p:nvSpPr>
          <p:cNvPr id="208" name="Google Shape;223;p32"/>
          <p:cNvSpPr txBox="1">
            <a:spLocks noGrp="1"/>
          </p:cNvSpPr>
          <p:nvPr>
            <p:ph type="body" idx="1"/>
          </p:nvPr>
        </p:nvSpPr>
        <p:spPr>
          <a:xfrm>
            <a:off x="120074" y="1425450"/>
            <a:ext cx="8945969" cy="3416401"/>
          </a:xfrm>
          <a:prstGeom prst="rect">
            <a:avLst/>
          </a:prstGeo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</a:t>
            </a: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IoT-based smart sensors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continuous real-time water monitoring. </a:t>
            </a:r>
          </a:p>
          <a:p>
            <a:pPr lvl="0" algn="just">
              <a:lnSpc>
                <a:spcPct val="150000"/>
              </a:lnSpc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 </a:t>
            </a: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remote monitoring and instant leak alerts. </a:t>
            </a:r>
          </a:p>
          <a:p>
            <a:pPr lvl="0" algn="just">
              <a:lnSpc>
                <a:spcPct val="150000"/>
              </a:lnSpc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</a:t>
            </a: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and Machine Learning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predict water consumption and detect leak patterns more accurately. </a:t>
            </a:r>
          </a:p>
          <a:p>
            <a:pPr lvl="0" algn="just">
              <a:lnSpc>
                <a:spcPct val="150000"/>
              </a:lnSpc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</a:t>
            </a: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water meters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automated data collection and analysis. </a:t>
            </a:r>
          </a:p>
          <a:p>
            <a:pPr lvl="0" algn="just">
              <a:lnSpc>
                <a:spcPct val="150000"/>
              </a:lnSpc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Addition of </a:t>
            </a: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analytics and reporting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support efficient water management and conservation. </a:t>
            </a:r>
          </a:p>
        </p:txBody>
      </p:sp>
      <p:pic>
        <p:nvPicPr>
          <p:cNvPr id="209" name="Google Shape;224;p32" descr="Google Shape;224;p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4" y="147825"/>
            <a:ext cx="867051" cy="1025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0" name="Google Shape;225;p32" descr="Google Shape;225;p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901" y="147825"/>
            <a:ext cx="1161143" cy="10257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30;p33"/>
          <p:cNvSpPr txBox="1">
            <a:spLocks noGrp="1"/>
          </p:cNvSpPr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ctr" defTabSz="649223">
              <a:lnSpc>
                <a:spcPct val="115000"/>
              </a:lnSpc>
              <a:spcBef>
                <a:spcPts val="900"/>
              </a:spcBef>
              <a:defRPr sz="2982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dirty="0"/>
              <a:t>CONCLUSION</a:t>
            </a:r>
          </a:p>
        </p:txBody>
      </p:sp>
      <p:sp>
        <p:nvSpPr>
          <p:cNvPr id="213" name="Google Shape;231;p33"/>
          <p:cNvSpPr txBox="1">
            <a:spLocks noGrp="1"/>
          </p:cNvSpPr>
          <p:nvPr>
            <p:ph type="body" idx="1"/>
          </p:nvPr>
        </p:nvSpPr>
        <p:spPr>
          <a:xfrm>
            <a:off x="123213" y="1470775"/>
            <a:ext cx="8897574" cy="3744591"/>
          </a:xfrm>
          <a:prstGeom prst="rect">
            <a:avLst/>
          </a:prstGeo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Water Consumption Monitoring and Leak Detection Management System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provides an effective solution for monitoring water usage and detecting possible leakages. </a:t>
            </a:r>
          </a:p>
          <a:p>
            <a:pPr lvl="0" algn="just"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of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Analysis and Design (OOAD)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principles ensures a modular, scalable, and maintainable system through well-structured software architecture and UML-based design. </a:t>
            </a:r>
          </a:p>
          <a:p>
            <a:pPr lvl="0" algn="just"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includes essential features such as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consumption monitoring, abnormal usage detection, leakage management, alert generation, and record maintenance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offers an efficient and reliable approach to 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 water wastage, improve water resource management, and support timely decision-making</a:t>
            </a:r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4" name="Google Shape;232;p33" descr="Google Shape;232;p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4" y="147825"/>
            <a:ext cx="867051" cy="1025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5" name="Google Shape;233;p33" descr="Google Shape;233;p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901" y="147825"/>
            <a:ext cx="1161143" cy="10257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38;p34"/>
          <p:cNvSpPr txBox="1">
            <a:spLocks noGrp="1"/>
          </p:cNvSpPr>
          <p:nvPr>
            <p:ph type="title"/>
          </p:nvPr>
        </p:nvSpPr>
        <p:spPr>
          <a:xfrm>
            <a:off x="311699" y="256600"/>
            <a:ext cx="8520602" cy="808201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ctr">
              <a:lnSpc>
                <a:spcPct val="115000"/>
              </a:lnSpc>
              <a:spcBef>
                <a:spcPts val="1400"/>
              </a:spcBef>
              <a:defRPr sz="43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REFERENCES</a:t>
            </a:r>
          </a:p>
        </p:txBody>
      </p:sp>
      <p:sp>
        <p:nvSpPr>
          <p:cNvPr id="218" name="Google Shape;239;p34"/>
          <p:cNvSpPr txBox="1">
            <a:spLocks noGrp="1"/>
          </p:cNvSpPr>
          <p:nvPr>
            <p:ph type="body" idx="1"/>
          </p:nvPr>
        </p:nvSpPr>
        <p:spPr>
          <a:xfrm>
            <a:off x="311699" y="1329875"/>
            <a:ext cx="8520602" cy="3416401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lvl="0" algn="just">
              <a:lnSpc>
                <a:spcPct val="150000"/>
              </a:lnSpc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Sommerville, </a:t>
            </a:r>
            <a:r>
              <a:rPr lang="en-IN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Pearson Education. </a:t>
            </a:r>
          </a:p>
          <a:p>
            <a:pPr lvl="0" algn="just">
              <a:lnSpc>
                <a:spcPct val="150000"/>
              </a:lnSpc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 Booch, J. Rumbaugh, and I. Jacobson, </a:t>
            </a:r>
            <a:r>
              <a:rPr lang="en-IN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Unified Modeling Language User Guide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Addison-Wesley. </a:t>
            </a:r>
          </a:p>
          <a:p>
            <a:pPr lvl="0" algn="just">
              <a:lnSpc>
                <a:spcPct val="150000"/>
              </a:lnSpc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Larman, </a:t>
            </a:r>
            <a:r>
              <a:rPr lang="en-IN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Applying UML and Patterns: An Introduction to Object-Oriented Analysis and Design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Pearson Education. </a:t>
            </a:r>
          </a:p>
          <a:p>
            <a:pPr lvl="0" algn="just">
              <a:lnSpc>
                <a:spcPct val="150000"/>
              </a:lnSpc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Management Group (OMG), </a:t>
            </a:r>
            <a:r>
              <a:rPr lang="en-IN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Unified Modeling Language (UML) Specification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K. Sharma and R. K. Gupta, “Smart Water Management and Leakage Detection Using IoT,” </a:t>
            </a:r>
            <a:r>
              <a:rPr lang="en-IN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Engineering Research and Technology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50000"/>
              </a:lnSpc>
            </a:pP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ESP32 Documentation, </a:t>
            </a:r>
            <a:r>
              <a:rPr lang="en-IN" sz="16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Espressif</a:t>
            </a:r>
            <a:r>
              <a:rPr lang="en-IN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Systems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for IoT-based monitoring and sensor integration. </a:t>
            </a:r>
          </a:p>
        </p:txBody>
      </p:sp>
      <p:pic>
        <p:nvPicPr>
          <p:cNvPr id="219" name="Google Shape;240;p34" descr="Google Shape;240;p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74" y="147825"/>
            <a:ext cx="867051" cy="1025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" name="Google Shape;241;p34" descr="Google Shape;241;p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901" y="147825"/>
            <a:ext cx="1161143" cy="10257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pasted-movie.heic" descr="pasted-movie.he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4717</TotalTime>
  <Words>1782</Words>
  <Application>Microsoft Office PowerPoint</Application>
  <PresentationFormat>On-screen Show (16:9)</PresentationFormat>
  <Paragraphs>148</Paragraphs>
  <Slides>26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Times New Roman</vt:lpstr>
      <vt:lpstr>Simple Light</vt:lpstr>
      <vt:lpstr>PowerPoint Presentation</vt:lpstr>
      <vt:lpstr>ABSTRACT</vt:lpstr>
      <vt:lpstr>OBJECTIVES</vt:lpstr>
      <vt:lpstr>EXISTING SYSTEM</vt:lpstr>
      <vt:lpstr>LITERATURE REVIEW/BACKGROUND</vt:lpstr>
      <vt:lpstr>PROBLEM STATEMENT</vt:lpstr>
      <vt:lpstr>METHODOLOGY</vt:lpstr>
      <vt:lpstr>SYSTEM DESIGN / ARCHITECTURE</vt:lpstr>
      <vt:lpstr>MODULES</vt:lpstr>
      <vt:lpstr>Module 1: Water Consumption Monitoring</vt:lpstr>
      <vt:lpstr>Module 1: Water Consumption Monitoring</vt:lpstr>
      <vt:lpstr>Module 2: Leak Detection and Alert Management</vt:lpstr>
      <vt:lpstr>Module 2: Leak Detection and Alert Management</vt:lpstr>
      <vt:lpstr>Module 3 Alert &amp; Notification Management </vt:lpstr>
      <vt:lpstr>Module 3 Alert &amp; Notification Management </vt:lpstr>
      <vt:lpstr>Module 4 System Administration &amp; Monitoring </vt:lpstr>
      <vt:lpstr>Module 4 System Administration &amp; Monitoring </vt:lpstr>
      <vt:lpstr>UML Diagrams </vt:lpstr>
      <vt:lpstr>UML Diagrams </vt:lpstr>
      <vt:lpstr>UML Diagrams </vt:lpstr>
      <vt:lpstr>Results and Discussion</vt:lpstr>
      <vt:lpstr>CHALLENGES AND LIMITATIONS</vt:lpstr>
      <vt:lpstr>FUTURE SCOPE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M.POOJITH GANESH</dc:creator>
  <cp:lastModifiedBy>poojithganeshmarem05@gmail.com</cp:lastModifiedBy>
  <cp:revision>8</cp:revision>
  <dcterms:modified xsi:type="dcterms:W3CDTF">2026-09-04T04:27:21Z</dcterms:modified>
</cp:coreProperties>
</file>